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7" r:id="rId17"/>
    <p:sldId id="348" r:id="rId18"/>
    <p:sldId id="350" r:id="rId19"/>
    <p:sldId id="346" r:id="rId20"/>
    <p:sldId id="349"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5033" autoAdjust="0"/>
  </p:normalViewPr>
  <p:slideViewPr>
    <p:cSldViewPr snapToGrid="0">
      <p:cViewPr varScale="1">
        <p:scale>
          <a:sx n="75" d="100"/>
          <a:sy n="75" d="100"/>
        </p:scale>
        <p:origin x="61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Mr007ok/Healthcare_Analytics_for_Doctor_Visits_SOLUTION.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05142" y="2685552"/>
            <a:ext cx="9981715" cy="743448"/>
          </a:xfrm>
        </p:spPr>
        <p:txBody>
          <a:bodyPr>
            <a:noAutofit/>
          </a:bodyPr>
          <a:lstStyle/>
          <a:p>
            <a:r>
              <a:rPr lang="en-IN" sz="4400" b="1" dirty="0"/>
              <a:t>Healthcare Analytics for Doctor Visits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1">
            <a:extLst>
              <a:ext uri="{FF2B5EF4-FFF2-40B4-BE49-F238E27FC236}">
                <a16:creationId xmlns:a16="http://schemas.microsoft.com/office/drawing/2014/main" id="{E4526657-A180-F6EB-1842-AED711550ABD}"/>
              </a:ext>
            </a:extLst>
          </p:cNvPr>
          <p:cNvSpPr>
            <a:spLocks noGrp="1"/>
          </p:cNvSpPr>
          <p:nvPr>
            <p:ph type="body" sz="quarter" idx="11"/>
          </p:nvPr>
        </p:nvSpPr>
        <p:spPr>
          <a:xfrm>
            <a:off x="4818742" y="4097473"/>
            <a:ext cx="8263782" cy="861497"/>
          </a:xfrm>
        </p:spPr>
        <p:txBody>
          <a:bodyPr vert="horz" lIns="91440" tIns="45720" rIns="91440" bIns="45720" rtlCol="0" anchor="t">
            <a:normAutofit lnSpcReduction="10000"/>
          </a:bodyPr>
          <a:lstStyle/>
          <a:p>
            <a:r>
              <a:rPr lang="en-US" sz="2400" dirty="0">
                <a:solidFill>
                  <a:schemeClr val="tx1"/>
                </a:solidFill>
              </a:rPr>
              <a:t>Om Rajendrakumar Koli</a:t>
            </a:r>
            <a:endParaRPr lang="en-IN" sz="2400" dirty="0">
              <a:solidFill>
                <a:schemeClr val="tx1"/>
              </a:solidFill>
            </a:endParaRPr>
          </a:p>
          <a:p>
            <a:r>
              <a:rPr lang="en-IN" sz="2100" dirty="0">
                <a:solidFill>
                  <a:schemeClr val="tx1"/>
                </a:solidFill>
                <a:latin typeface="+mn-lt"/>
              </a:rPr>
              <a:t>Adarsh Institute of Technology and Research Centre, Vita </a:t>
            </a:r>
          </a:p>
        </p:txBody>
      </p:sp>
      <p:sp>
        <p:nvSpPr>
          <p:cNvPr id="5" name="TextBox 4">
            <a:extLst>
              <a:ext uri="{FF2B5EF4-FFF2-40B4-BE49-F238E27FC236}">
                <a16:creationId xmlns:a16="http://schemas.microsoft.com/office/drawing/2014/main" id="{C278029C-6B8A-D89C-3815-E949054277D0}"/>
              </a:ext>
            </a:extLst>
          </p:cNvPr>
          <p:cNvSpPr txBox="1"/>
          <p:nvPr/>
        </p:nvSpPr>
        <p:spPr>
          <a:xfrm>
            <a:off x="4818742" y="4917012"/>
            <a:ext cx="6577250" cy="369332"/>
          </a:xfrm>
          <a:prstGeom prst="rect">
            <a:avLst/>
          </a:prstGeom>
          <a:noFill/>
        </p:spPr>
        <p:txBody>
          <a:bodyPr wrap="square" rtlCol="0">
            <a:spAutoFit/>
          </a:bodyPr>
          <a:lstStyle/>
          <a:p>
            <a:r>
              <a:rPr lang="en-US" b="1" dirty="0"/>
              <a:t>AICTE STU ID : </a:t>
            </a:r>
            <a:r>
              <a:rPr lang="en-IN" dirty="0"/>
              <a:t>STU66d3ee81eb4b21725165185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32" dur="500"/>
                                        <p:tgtEl>
                                          <p:spTgt spid="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3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862856"/>
            <a:ext cx="7398798" cy="3607987"/>
          </a:xfrm>
        </p:spPr>
        <p:txBody>
          <a:bodyPr>
            <a:noAutofit/>
          </a:bodyPr>
          <a:lstStyle/>
          <a:p>
            <a:pPr algn="just">
              <a:lnSpc>
                <a:spcPct val="150000"/>
              </a:lnSpc>
            </a:pPr>
            <a:r>
              <a:rPr lang="en-US" dirty="0"/>
              <a:t>Healthcare utilization — how often people visit a doctor — is shaped by factors like age, income, insurance coverage, chronic illness and general health. However, raw survey data does not clearly show which of these factors actually drive doctor visits or how strongly. This project analyzes health survey data from 5,190 individuals to identify the key patterns and relationships behind doctor visit frequency, and to understand which groups have the highest healthcare needs.</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9804401" cy="830997"/>
          </a:xfrm>
        </p:spPr>
        <p:txBody>
          <a:bodyPr>
            <a:normAutofit fontScale="90000"/>
          </a:bodyPr>
          <a:lstStyle/>
          <a:p>
            <a:r>
              <a:rPr lang="en-GB" dirty="0"/>
              <a:t>Project Description</a:t>
            </a:r>
            <a:br>
              <a:rPr lang="en-GB" dirty="0"/>
            </a:br>
            <a:br>
              <a:rPr lang="en-US" sz="27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562B1B3-497E-A4DF-147C-F6C06B5B68B4}"/>
              </a:ext>
            </a:extLst>
          </p:cNvPr>
          <p:cNvSpPr txBox="1"/>
          <p:nvPr/>
        </p:nvSpPr>
        <p:spPr>
          <a:xfrm>
            <a:off x="558799" y="1954012"/>
            <a:ext cx="10007601" cy="3729162"/>
          </a:xfrm>
          <a:prstGeom prst="rect">
            <a:avLst/>
          </a:prstGeom>
          <a:noFill/>
        </p:spPr>
        <p:txBody>
          <a:bodyPr wrap="square" rtlCol="0">
            <a:spAutoFit/>
          </a:bodyPr>
          <a:lstStyle/>
          <a:p>
            <a:pPr>
              <a:lnSpc>
                <a:spcPct val="150000"/>
              </a:lnSpc>
            </a:pPr>
            <a:r>
              <a:rPr lang="en-US" sz="2000" b="1" dirty="0"/>
              <a:t>This project performs an end-to-end Data Analytics study on the Australian Health Survey (1977-78) dataset, covering 5,190 individuals and 12 attributes including demographics (age, gender, income), health indicators (illness count, reduced-activity days, general health score) and insurance/chronic-condition status. The workflow includes data cleaning (missing values, duplicate investigation, data type correction, outlier analysis), feature engineering, univariate, bivariate and multivariate analysis, correlation analysis, and storytelling insights for every chart — concluding with evidence-based recommendations for healthcare planning.</a:t>
            </a:r>
            <a:endParaRPr lang="en-IN" sz="2000" b="1"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9756141" cy="3990023"/>
          </a:xfrm>
        </p:spPr>
        <p:txBody>
          <a:bodyPr>
            <a:noAutofit/>
          </a:bodyPr>
          <a:lstStyle/>
          <a:p>
            <a:pPr algn="just">
              <a:lnSpc>
                <a:spcPct val="150000"/>
              </a:lnSpc>
            </a:pPr>
            <a:r>
              <a:rPr lang="en-US" b="1" dirty="0"/>
              <a:t>Healthcare providers and clinics planning appointment capacity and staffing</a:t>
            </a:r>
          </a:p>
          <a:p>
            <a:pPr algn="just">
              <a:lnSpc>
                <a:spcPct val="150000"/>
              </a:lnSpc>
            </a:pPr>
            <a:r>
              <a:rPr lang="en-US" b="1" dirty="0"/>
              <a:t>Health insurance companies assessing risk and coverage design</a:t>
            </a:r>
          </a:p>
          <a:p>
            <a:pPr algn="just">
              <a:lnSpc>
                <a:spcPct val="150000"/>
              </a:lnSpc>
            </a:pPr>
            <a:r>
              <a:rPr lang="en-US" b="1" dirty="0"/>
              <a:t>Government health departments and policymakers for resource allocation</a:t>
            </a:r>
          </a:p>
          <a:p>
            <a:pPr algn="just">
              <a:lnSpc>
                <a:spcPct val="150000"/>
              </a:lnSpc>
            </a:pPr>
            <a:r>
              <a:rPr lang="en-US" b="1" dirty="0"/>
              <a:t>Public health researchers studying healthcare utilization patterns</a:t>
            </a:r>
          </a:p>
          <a:p>
            <a:pPr algn="just">
              <a:lnSpc>
                <a:spcPct val="150000"/>
              </a:lnSpc>
            </a:pPr>
            <a:r>
              <a:rPr lang="en-US" b="1" dirty="0"/>
              <a:t>Hospital administrators identifying high-need patient groups for preventive care programs</a:t>
            </a:r>
            <a:endParaRPr lang="en-IN" b="1"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67359" y="1315059"/>
            <a:ext cx="10442482" cy="5243448"/>
          </a:xfrm>
        </p:spPr>
        <p:txBody>
          <a:bodyPr/>
          <a:lstStyle/>
          <a:p>
            <a:pPr lvl="1">
              <a:lnSpc>
                <a:spcPct val="150000"/>
              </a:lnSpc>
            </a:pPr>
            <a:r>
              <a:rPr lang="en-IN" b="1" dirty="0"/>
              <a:t>Python 3 (Google </a:t>
            </a:r>
            <a:r>
              <a:rPr lang="en-IN" b="1" dirty="0" err="1"/>
              <a:t>Colab</a:t>
            </a:r>
            <a:r>
              <a:rPr lang="en-IN" b="1" dirty="0"/>
              <a:t> / Jupyter Notebook)</a:t>
            </a:r>
          </a:p>
          <a:p>
            <a:pPr lvl="1">
              <a:lnSpc>
                <a:spcPct val="150000"/>
              </a:lnSpc>
            </a:pPr>
            <a:r>
              <a:rPr lang="en-IN" b="1" dirty="0"/>
              <a:t>Pandas &amp; NumPy - data cleaning and analysis</a:t>
            </a:r>
          </a:p>
          <a:p>
            <a:pPr lvl="1">
              <a:lnSpc>
                <a:spcPct val="150000"/>
              </a:lnSpc>
            </a:pPr>
            <a:r>
              <a:rPr lang="en-IN" b="1" dirty="0"/>
              <a:t>Matplotlib &amp; Seaborn - data visualization</a:t>
            </a:r>
          </a:p>
          <a:p>
            <a:pPr lvl="1">
              <a:lnSpc>
                <a:spcPct val="150000"/>
              </a:lnSpc>
            </a:pPr>
            <a:r>
              <a:rPr lang="en-IN" b="1" dirty="0"/>
              <a:t>Statistical methods - IQR outlier detection, correlation analysis</a:t>
            </a:r>
          </a:p>
          <a:p>
            <a:pPr lvl="1">
              <a:lnSpc>
                <a:spcPct val="150000"/>
              </a:lnSpc>
            </a:pPr>
            <a:r>
              <a:rPr lang="en-IN" b="1" dirty="0"/>
              <a:t>GitHub - version control and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5" name="Picture 14">
            <a:extLst>
              <a:ext uri="{FF2B5EF4-FFF2-40B4-BE49-F238E27FC236}">
                <a16:creationId xmlns:a16="http://schemas.microsoft.com/office/drawing/2014/main" id="{0064B2D0-AB0F-6051-A337-88BFF122098A}"/>
              </a:ext>
            </a:extLst>
          </p:cNvPr>
          <p:cNvPicPr>
            <a:picLocks noChangeAspect="1"/>
          </p:cNvPicPr>
          <p:nvPr/>
        </p:nvPicPr>
        <p:blipFill>
          <a:blip r:embed="rId4"/>
          <a:stretch>
            <a:fillRect/>
          </a:stretch>
        </p:blipFill>
        <p:spPr>
          <a:xfrm>
            <a:off x="6708476" y="1418966"/>
            <a:ext cx="5381924" cy="3953134"/>
          </a:xfrm>
          <a:prstGeom prst="rect">
            <a:avLst/>
          </a:prstGeom>
        </p:spPr>
      </p:pic>
      <p:pic>
        <p:nvPicPr>
          <p:cNvPr id="17" name="Picture 16">
            <a:extLst>
              <a:ext uri="{FF2B5EF4-FFF2-40B4-BE49-F238E27FC236}">
                <a16:creationId xmlns:a16="http://schemas.microsoft.com/office/drawing/2014/main" id="{9F4DA4F8-0DF5-3E84-499E-19B2E1BD3DF7}"/>
              </a:ext>
            </a:extLst>
          </p:cNvPr>
          <p:cNvPicPr>
            <a:picLocks noChangeAspect="1"/>
          </p:cNvPicPr>
          <p:nvPr/>
        </p:nvPicPr>
        <p:blipFill>
          <a:blip r:embed="rId5"/>
          <a:stretch>
            <a:fillRect/>
          </a:stretch>
        </p:blipFill>
        <p:spPr>
          <a:xfrm>
            <a:off x="293917" y="1418966"/>
            <a:ext cx="5858748" cy="395313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A1B41-3709-EE8D-65EE-8D79E4F64B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E6299C-6197-1046-826D-2645C675BF7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68BAB34-F9D1-3FBC-3A09-68C03A7395E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BCD80FE-BA43-52B1-729E-BAE9C5E7EB7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5A6EA81-CEFE-448D-A89A-F223A7E5285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291FB73F-9D1B-B6D6-1E3E-8EAEBE513ACC}"/>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0DD14A77-5018-40EB-52DB-E45016A2CEF6}"/>
              </a:ext>
            </a:extLst>
          </p:cNvPr>
          <p:cNvPicPr>
            <a:picLocks noChangeAspect="1"/>
          </p:cNvPicPr>
          <p:nvPr/>
        </p:nvPicPr>
        <p:blipFill>
          <a:blip r:embed="rId4"/>
          <a:stretch>
            <a:fillRect/>
          </a:stretch>
        </p:blipFill>
        <p:spPr>
          <a:xfrm>
            <a:off x="6017474" y="1604708"/>
            <a:ext cx="5468113" cy="3648584"/>
          </a:xfrm>
          <a:prstGeom prst="rect">
            <a:avLst/>
          </a:prstGeom>
        </p:spPr>
      </p:pic>
      <p:pic>
        <p:nvPicPr>
          <p:cNvPr id="10" name="Picture 9">
            <a:extLst>
              <a:ext uri="{FF2B5EF4-FFF2-40B4-BE49-F238E27FC236}">
                <a16:creationId xmlns:a16="http://schemas.microsoft.com/office/drawing/2014/main" id="{AC7274BD-7D60-596E-1B54-CB5839E81188}"/>
              </a:ext>
            </a:extLst>
          </p:cNvPr>
          <p:cNvPicPr>
            <a:picLocks noChangeAspect="1"/>
          </p:cNvPicPr>
          <p:nvPr/>
        </p:nvPicPr>
        <p:blipFill>
          <a:blip r:embed="rId5"/>
          <a:stretch>
            <a:fillRect/>
          </a:stretch>
        </p:blipFill>
        <p:spPr>
          <a:xfrm>
            <a:off x="95920" y="1604708"/>
            <a:ext cx="5458587" cy="3677163"/>
          </a:xfrm>
          <a:prstGeom prst="rect">
            <a:avLst/>
          </a:prstGeom>
        </p:spPr>
      </p:pic>
    </p:spTree>
    <p:extLst>
      <p:ext uri="{BB962C8B-B14F-4D97-AF65-F5344CB8AC3E}">
        <p14:creationId xmlns:p14="http://schemas.microsoft.com/office/powerpoint/2010/main" val="3327991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A600A-466C-E528-5AF6-A4946980E1B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3EC4FA-DF15-AF43-CD33-31E7DF80CB7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4FAD45-919B-6DDD-E790-EA992B41CAA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E6FC882-A4A1-D8E9-D32B-CE865551101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40E5D47-61F3-3EE0-5003-6B51C39DCE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6E75D6F-38EA-C7E4-6258-BB08A68FEED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350570DE-9037-C2FD-A019-694A9BC27150}"/>
              </a:ext>
            </a:extLst>
          </p:cNvPr>
          <p:cNvPicPr>
            <a:picLocks noChangeAspect="1"/>
          </p:cNvPicPr>
          <p:nvPr/>
        </p:nvPicPr>
        <p:blipFill>
          <a:blip r:embed="rId4"/>
          <a:stretch>
            <a:fillRect/>
          </a:stretch>
        </p:blipFill>
        <p:spPr>
          <a:xfrm>
            <a:off x="6298401" y="1604708"/>
            <a:ext cx="5563093" cy="3718437"/>
          </a:xfrm>
          <a:prstGeom prst="rect">
            <a:avLst/>
          </a:prstGeom>
        </p:spPr>
      </p:pic>
      <p:pic>
        <p:nvPicPr>
          <p:cNvPr id="10" name="Picture 9">
            <a:extLst>
              <a:ext uri="{FF2B5EF4-FFF2-40B4-BE49-F238E27FC236}">
                <a16:creationId xmlns:a16="http://schemas.microsoft.com/office/drawing/2014/main" id="{EAFD3C89-76E5-1911-7806-E7E14BECD5F3}"/>
              </a:ext>
            </a:extLst>
          </p:cNvPr>
          <p:cNvPicPr>
            <a:picLocks noChangeAspect="1"/>
          </p:cNvPicPr>
          <p:nvPr/>
        </p:nvPicPr>
        <p:blipFill>
          <a:blip r:embed="rId5"/>
          <a:stretch>
            <a:fillRect/>
          </a:stretch>
        </p:blipFill>
        <p:spPr>
          <a:xfrm>
            <a:off x="320982" y="1604708"/>
            <a:ext cx="5468113" cy="3667637"/>
          </a:xfrm>
          <a:prstGeom prst="rect">
            <a:avLst/>
          </a:prstGeom>
        </p:spPr>
      </p:pic>
    </p:spTree>
    <p:extLst>
      <p:ext uri="{BB962C8B-B14F-4D97-AF65-F5344CB8AC3E}">
        <p14:creationId xmlns:p14="http://schemas.microsoft.com/office/powerpoint/2010/main" val="53276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5507-3783-4506-7910-06D9C5FEF4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CEDFD6-800F-AD47-57DC-5DB8D7ADF14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3CBFE7A-D813-D791-6891-7931EFC116D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46357CF-4947-519E-FEE0-ED42293B7D2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65F8F9-C5AA-5027-FF57-204E6DACACA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9EBC72BA-FD83-0445-6C75-EE919F4E8FE2}"/>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B552D659-2300-BD2D-24CC-02B1805864D5}"/>
              </a:ext>
            </a:extLst>
          </p:cNvPr>
          <p:cNvPicPr>
            <a:picLocks noChangeAspect="1"/>
          </p:cNvPicPr>
          <p:nvPr/>
        </p:nvPicPr>
        <p:blipFill>
          <a:blip r:embed="rId4"/>
          <a:stretch>
            <a:fillRect/>
          </a:stretch>
        </p:blipFill>
        <p:spPr>
          <a:xfrm>
            <a:off x="5911443" y="1518971"/>
            <a:ext cx="5830114" cy="3820058"/>
          </a:xfrm>
          <a:prstGeom prst="rect">
            <a:avLst/>
          </a:prstGeom>
        </p:spPr>
      </p:pic>
      <p:pic>
        <p:nvPicPr>
          <p:cNvPr id="10" name="Picture 9">
            <a:extLst>
              <a:ext uri="{FF2B5EF4-FFF2-40B4-BE49-F238E27FC236}">
                <a16:creationId xmlns:a16="http://schemas.microsoft.com/office/drawing/2014/main" id="{164DDFC4-F85E-EFC5-9638-6FB6CB7AF001}"/>
              </a:ext>
            </a:extLst>
          </p:cNvPr>
          <p:cNvPicPr>
            <a:picLocks noChangeAspect="1"/>
          </p:cNvPicPr>
          <p:nvPr/>
        </p:nvPicPr>
        <p:blipFill>
          <a:blip r:embed="rId5"/>
          <a:stretch>
            <a:fillRect/>
          </a:stretch>
        </p:blipFill>
        <p:spPr>
          <a:xfrm>
            <a:off x="176566" y="1614234"/>
            <a:ext cx="5449060" cy="3629532"/>
          </a:xfrm>
          <a:prstGeom prst="rect">
            <a:avLst/>
          </a:prstGeom>
        </p:spPr>
      </p:pic>
    </p:spTree>
    <p:extLst>
      <p:ext uri="{BB962C8B-B14F-4D97-AF65-F5344CB8AC3E}">
        <p14:creationId xmlns:p14="http://schemas.microsoft.com/office/powerpoint/2010/main" val="347626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0BB31-1D9C-A384-FCE7-87AA5A26C6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377858-32E1-DC15-797A-570398E1C8D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CB524C-D120-8A2D-F20D-B1D453AD493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7D9FACC-56AC-56EE-26D4-A64D184AA9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67B6C9F-E281-B887-DFAA-9883DB8C8C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F9E6E40-F87D-36E5-7AF0-8056B8CE9DA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286C80D9-E8E8-8D30-73BD-366ECB43F422}"/>
              </a:ext>
            </a:extLst>
          </p:cNvPr>
          <p:cNvPicPr>
            <a:picLocks noChangeAspect="1"/>
          </p:cNvPicPr>
          <p:nvPr/>
        </p:nvPicPr>
        <p:blipFill>
          <a:blip r:embed="rId4"/>
          <a:stretch>
            <a:fillRect/>
          </a:stretch>
        </p:blipFill>
        <p:spPr>
          <a:xfrm>
            <a:off x="7503499" y="1427819"/>
            <a:ext cx="4456361" cy="4002361"/>
          </a:xfrm>
          <a:prstGeom prst="rect">
            <a:avLst/>
          </a:prstGeom>
        </p:spPr>
      </p:pic>
      <p:pic>
        <p:nvPicPr>
          <p:cNvPr id="10" name="Picture 9">
            <a:extLst>
              <a:ext uri="{FF2B5EF4-FFF2-40B4-BE49-F238E27FC236}">
                <a16:creationId xmlns:a16="http://schemas.microsoft.com/office/drawing/2014/main" id="{955E4308-82C0-DEBF-F8DB-D53E21A860CA}"/>
              </a:ext>
            </a:extLst>
          </p:cNvPr>
          <p:cNvPicPr>
            <a:picLocks noChangeAspect="1"/>
          </p:cNvPicPr>
          <p:nvPr/>
        </p:nvPicPr>
        <p:blipFill>
          <a:blip r:embed="rId5"/>
          <a:stretch>
            <a:fillRect/>
          </a:stretch>
        </p:blipFill>
        <p:spPr>
          <a:xfrm>
            <a:off x="232140" y="1578277"/>
            <a:ext cx="6509438" cy="3701445"/>
          </a:xfrm>
          <a:prstGeom prst="rect">
            <a:avLst/>
          </a:prstGeom>
        </p:spPr>
      </p:pic>
    </p:spTree>
    <p:extLst>
      <p:ext uri="{BB962C8B-B14F-4D97-AF65-F5344CB8AC3E}">
        <p14:creationId xmlns:p14="http://schemas.microsoft.com/office/powerpoint/2010/main" val="17794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9155-0900-8552-F355-3494AAA26C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C7A5472-16FA-9E9B-4855-689F4C44502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5B5D6F2-EEFE-2BF1-3F0D-6F4A90621BC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F7898D9-3EA6-9869-B2FB-E9EC1EE17A0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B2630FF-F5F9-F735-8895-102A664336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8A6AF7A-224E-A5C6-ACD8-64C68468353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0218DC07-BB7C-44BC-3F4D-522D0F1578A9}"/>
              </a:ext>
            </a:extLst>
          </p:cNvPr>
          <p:cNvPicPr>
            <a:picLocks noChangeAspect="1"/>
          </p:cNvPicPr>
          <p:nvPr/>
        </p:nvPicPr>
        <p:blipFill>
          <a:blip r:embed="rId4"/>
          <a:stretch>
            <a:fillRect/>
          </a:stretch>
        </p:blipFill>
        <p:spPr>
          <a:xfrm>
            <a:off x="6314175" y="1803502"/>
            <a:ext cx="5556843" cy="3779125"/>
          </a:xfrm>
          <a:prstGeom prst="rect">
            <a:avLst/>
          </a:prstGeom>
        </p:spPr>
      </p:pic>
      <p:pic>
        <p:nvPicPr>
          <p:cNvPr id="10" name="Picture 9">
            <a:extLst>
              <a:ext uri="{FF2B5EF4-FFF2-40B4-BE49-F238E27FC236}">
                <a16:creationId xmlns:a16="http://schemas.microsoft.com/office/drawing/2014/main" id="{B4BEED63-D253-3F98-ADB3-AF08EEE23025}"/>
              </a:ext>
            </a:extLst>
          </p:cNvPr>
          <p:cNvPicPr>
            <a:picLocks noChangeAspect="1"/>
          </p:cNvPicPr>
          <p:nvPr/>
        </p:nvPicPr>
        <p:blipFill>
          <a:blip r:embed="rId5"/>
          <a:stretch>
            <a:fillRect/>
          </a:stretch>
        </p:blipFill>
        <p:spPr>
          <a:xfrm>
            <a:off x="422959" y="1803503"/>
            <a:ext cx="5504378" cy="3779125"/>
          </a:xfrm>
          <a:prstGeom prst="rect">
            <a:avLst/>
          </a:prstGeom>
        </p:spPr>
      </p:pic>
    </p:spTree>
    <p:extLst>
      <p:ext uri="{BB962C8B-B14F-4D97-AF65-F5344CB8AC3E}">
        <p14:creationId xmlns:p14="http://schemas.microsoft.com/office/powerpoint/2010/main" val="62334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6A6B2-59C0-5876-98A3-E74DCE61B5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0B9290-1735-255B-CFD9-31B1D5EDDCE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2CC5A5B-5836-59FE-DDAE-D25901F83B6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A36C2A0-5A45-305D-017E-DCC6D70DD09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7AB8104-65FD-E60E-F7CF-E7456C1D09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A575280-2FAC-F2F1-9F43-B152E99C5BA8}"/>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5DE1B2C1-B237-0A3B-9512-5A71CD3218AA}"/>
              </a:ext>
            </a:extLst>
          </p:cNvPr>
          <p:cNvPicPr>
            <a:picLocks noChangeAspect="1"/>
          </p:cNvPicPr>
          <p:nvPr/>
        </p:nvPicPr>
        <p:blipFill>
          <a:blip r:embed="rId4"/>
          <a:stretch>
            <a:fillRect/>
          </a:stretch>
        </p:blipFill>
        <p:spPr>
          <a:xfrm>
            <a:off x="6513207" y="1755438"/>
            <a:ext cx="5559115" cy="3827190"/>
          </a:xfrm>
          <a:prstGeom prst="rect">
            <a:avLst/>
          </a:prstGeom>
        </p:spPr>
      </p:pic>
      <p:pic>
        <p:nvPicPr>
          <p:cNvPr id="10" name="Picture 9">
            <a:extLst>
              <a:ext uri="{FF2B5EF4-FFF2-40B4-BE49-F238E27FC236}">
                <a16:creationId xmlns:a16="http://schemas.microsoft.com/office/drawing/2014/main" id="{40685B1A-B970-B4D3-4839-7CED36B99637}"/>
              </a:ext>
            </a:extLst>
          </p:cNvPr>
          <p:cNvPicPr>
            <a:picLocks noChangeAspect="1"/>
          </p:cNvPicPr>
          <p:nvPr/>
        </p:nvPicPr>
        <p:blipFill>
          <a:blip r:embed="rId5"/>
          <a:stretch>
            <a:fillRect/>
          </a:stretch>
        </p:blipFill>
        <p:spPr>
          <a:xfrm>
            <a:off x="217175" y="1608409"/>
            <a:ext cx="5898446" cy="3974219"/>
          </a:xfrm>
          <a:prstGeom prst="rect">
            <a:avLst/>
          </a:prstGeom>
        </p:spPr>
      </p:pic>
    </p:spTree>
    <p:extLst>
      <p:ext uri="{BB962C8B-B14F-4D97-AF65-F5344CB8AC3E}">
        <p14:creationId xmlns:p14="http://schemas.microsoft.com/office/powerpoint/2010/main" val="365592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7645D-4C8A-A90F-74B9-76C487FB8C9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E58E71-8ECD-E6C3-4E54-FDA82459F3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4B8ED30-5728-002B-7345-783D8464F0B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2CE565A-C89D-21EC-7BDE-FAAE2F428FA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7BC3E99-91CA-003D-A149-03B5956E7F0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222F36D9-B004-1041-69B8-3C7D2AA70086}"/>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3825D5F1-505E-49DD-3F6B-B5EECB8CDA5D}"/>
              </a:ext>
            </a:extLst>
          </p:cNvPr>
          <p:cNvPicPr>
            <a:picLocks noChangeAspect="1"/>
          </p:cNvPicPr>
          <p:nvPr/>
        </p:nvPicPr>
        <p:blipFill>
          <a:blip r:embed="rId4"/>
          <a:stretch>
            <a:fillRect/>
          </a:stretch>
        </p:blipFill>
        <p:spPr>
          <a:xfrm>
            <a:off x="6639248" y="1643911"/>
            <a:ext cx="5451152" cy="3570178"/>
          </a:xfrm>
          <a:prstGeom prst="rect">
            <a:avLst/>
          </a:prstGeom>
        </p:spPr>
      </p:pic>
      <p:pic>
        <p:nvPicPr>
          <p:cNvPr id="10" name="Picture 9">
            <a:extLst>
              <a:ext uri="{FF2B5EF4-FFF2-40B4-BE49-F238E27FC236}">
                <a16:creationId xmlns:a16="http://schemas.microsoft.com/office/drawing/2014/main" id="{4E891622-4767-9A46-CAD2-7A7236B9C6EE}"/>
              </a:ext>
            </a:extLst>
          </p:cNvPr>
          <p:cNvPicPr>
            <a:picLocks noChangeAspect="1"/>
          </p:cNvPicPr>
          <p:nvPr/>
        </p:nvPicPr>
        <p:blipFill>
          <a:blip r:embed="rId5"/>
          <a:stretch>
            <a:fillRect/>
          </a:stretch>
        </p:blipFill>
        <p:spPr>
          <a:xfrm>
            <a:off x="0" y="1560622"/>
            <a:ext cx="6335009" cy="3570178"/>
          </a:xfrm>
          <a:prstGeom prst="rect">
            <a:avLst/>
          </a:prstGeom>
        </p:spPr>
      </p:pic>
    </p:spTree>
    <p:extLst>
      <p:ext uri="{BB962C8B-B14F-4D97-AF65-F5344CB8AC3E}">
        <p14:creationId xmlns:p14="http://schemas.microsoft.com/office/powerpoint/2010/main" val="272708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19B3-1372-3380-8D24-E89240F2EF6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C2584F-A425-F4A9-0937-32429D79003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93234C1-05B2-CD85-3C7F-1EE5F8D1369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3BAAA0B-E641-3E00-27D4-733B3106105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BB81328-F3CC-0B2C-4933-EB5AE7A6E6A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5107C6D-6879-5852-3EFA-6FE83CE588B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534897E3-EC74-2856-8F69-6386B2B0B617}"/>
              </a:ext>
            </a:extLst>
          </p:cNvPr>
          <p:cNvPicPr>
            <a:picLocks noChangeAspect="1"/>
          </p:cNvPicPr>
          <p:nvPr/>
        </p:nvPicPr>
        <p:blipFill>
          <a:blip r:embed="rId4"/>
          <a:stretch>
            <a:fillRect/>
          </a:stretch>
        </p:blipFill>
        <p:spPr>
          <a:xfrm>
            <a:off x="6444325" y="1734779"/>
            <a:ext cx="5747675" cy="3695450"/>
          </a:xfrm>
          <a:prstGeom prst="rect">
            <a:avLst/>
          </a:prstGeom>
        </p:spPr>
      </p:pic>
      <p:pic>
        <p:nvPicPr>
          <p:cNvPr id="10" name="Picture 9">
            <a:extLst>
              <a:ext uri="{FF2B5EF4-FFF2-40B4-BE49-F238E27FC236}">
                <a16:creationId xmlns:a16="http://schemas.microsoft.com/office/drawing/2014/main" id="{3EBB35A6-1395-9AFA-7602-FE35D9ED4C53}"/>
              </a:ext>
            </a:extLst>
          </p:cNvPr>
          <p:cNvPicPr>
            <a:picLocks noChangeAspect="1"/>
          </p:cNvPicPr>
          <p:nvPr/>
        </p:nvPicPr>
        <p:blipFill>
          <a:blip r:embed="rId5"/>
          <a:stretch>
            <a:fillRect/>
          </a:stretch>
        </p:blipFill>
        <p:spPr>
          <a:xfrm>
            <a:off x="117069" y="1734779"/>
            <a:ext cx="6298188" cy="3434121"/>
          </a:xfrm>
          <a:prstGeom prst="rect">
            <a:avLst/>
          </a:prstGeom>
        </p:spPr>
      </p:pic>
    </p:spTree>
    <p:extLst>
      <p:ext uri="{BB962C8B-B14F-4D97-AF65-F5344CB8AC3E}">
        <p14:creationId xmlns:p14="http://schemas.microsoft.com/office/powerpoint/2010/main" val="185330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3B51B-72C0-B352-2046-7A1AC9D380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3967DD-EC9B-2E9A-E7F3-9CD578D41EC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32ED19-701F-B9AA-5C0F-DFE8EA31FB8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6193787-1151-92BB-83EA-1CE8CAAB951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DE08A89-0F6D-2E56-B08A-740439577CD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D9E1C35-BF3E-85D1-7F40-A9C0C6DDB7F5}"/>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87AFFD1C-6115-1AFE-BFBF-3DA9F08E568E}"/>
              </a:ext>
            </a:extLst>
          </p:cNvPr>
          <p:cNvPicPr>
            <a:picLocks noChangeAspect="1"/>
          </p:cNvPicPr>
          <p:nvPr/>
        </p:nvPicPr>
        <p:blipFill>
          <a:blip r:embed="rId4"/>
          <a:stretch>
            <a:fillRect/>
          </a:stretch>
        </p:blipFill>
        <p:spPr>
          <a:xfrm>
            <a:off x="6665684" y="1488053"/>
            <a:ext cx="5371185" cy="4152869"/>
          </a:xfrm>
          <a:prstGeom prst="rect">
            <a:avLst/>
          </a:prstGeom>
        </p:spPr>
      </p:pic>
      <p:pic>
        <p:nvPicPr>
          <p:cNvPr id="10" name="Picture 9">
            <a:extLst>
              <a:ext uri="{FF2B5EF4-FFF2-40B4-BE49-F238E27FC236}">
                <a16:creationId xmlns:a16="http://schemas.microsoft.com/office/drawing/2014/main" id="{DA789FDE-375A-BEE7-B840-3E923E7EE1E5}"/>
              </a:ext>
            </a:extLst>
          </p:cNvPr>
          <p:cNvPicPr>
            <a:picLocks noChangeAspect="1"/>
          </p:cNvPicPr>
          <p:nvPr/>
        </p:nvPicPr>
        <p:blipFill>
          <a:blip r:embed="rId5"/>
          <a:stretch>
            <a:fillRect/>
          </a:stretch>
        </p:blipFill>
        <p:spPr>
          <a:xfrm>
            <a:off x="155131" y="1488054"/>
            <a:ext cx="6274444" cy="4152869"/>
          </a:xfrm>
          <a:prstGeom prst="rect">
            <a:avLst/>
          </a:prstGeom>
        </p:spPr>
      </p:pic>
    </p:spTree>
    <p:extLst>
      <p:ext uri="{BB962C8B-B14F-4D97-AF65-F5344CB8AC3E}">
        <p14:creationId xmlns:p14="http://schemas.microsoft.com/office/powerpoint/2010/main" val="5391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5FB6-D0E1-225B-0066-439709CE1E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6F55E90-DD92-7837-DFD1-FF1A6DB3EE8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EB9BA02-0AD4-B870-88B6-A0FE0AA9487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8D67C9C-C788-D59C-0A45-11145C34046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A68D488-ADA4-798B-4A61-BEA2DD44AF4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BD5FBBC-C56A-09B4-17BE-8803F67DB167}"/>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AF576EA0-DA38-7D92-7732-59D6BE19353D}"/>
              </a:ext>
            </a:extLst>
          </p:cNvPr>
          <p:cNvPicPr>
            <a:picLocks noChangeAspect="1"/>
          </p:cNvPicPr>
          <p:nvPr/>
        </p:nvPicPr>
        <p:blipFill>
          <a:blip r:embed="rId4"/>
          <a:stretch>
            <a:fillRect/>
          </a:stretch>
        </p:blipFill>
        <p:spPr>
          <a:xfrm>
            <a:off x="5811421" y="1627462"/>
            <a:ext cx="6403991" cy="3795438"/>
          </a:xfrm>
          <a:prstGeom prst="rect">
            <a:avLst/>
          </a:prstGeom>
        </p:spPr>
      </p:pic>
      <p:pic>
        <p:nvPicPr>
          <p:cNvPr id="10" name="Picture 9">
            <a:extLst>
              <a:ext uri="{FF2B5EF4-FFF2-40B4-BE49-F238E27FC236}">
                <a16:creationId xmlns:a16="http://schemas.microsoft.com/office/drawing/2014/main" id="{08213366-065E-DF2E-61AC-20E0BB9B15C1}"/>
              </a:ext>
            </a:extLst>
          </p:cNvPr>
          <p:cNvPicPr>
            <a:picLocks noChangeAspect="1"/>
          </p:cNvPicPr>
          <p:nvPr/>
        </p:nvPicPr>
        <p:blipFill>
          <a:blip r:embed="rId5"/>
          <a:stretch>
            <a:fillRect/>
          </a:stretch>
        </p:blipFill>
        <p:spPr>
          <a:xfrm>
            <a:off x="204104" y="1608410"/>
            <a:ext cx="5622818" cy="3814490"/>
          </a:xfrm>
          <a:prstGeom prst="rect">
            <a:avLst/>
          </a:prstGeom>
        </p:spPr>
      </p:pic>
    </p:spTree>
    <p:extLst>
      <p:ext uri="{BB962C8B-B14F-4D97-AF65-F5344CB8AC3E}">
        <p14:creationId xmlns:p14="http://schemas.microsoft.com/office/powerpoint/2010/main" val="230024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2BFC5-EE8F-6B57-6B23-AF8518AD861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AD6298-DDDD-58DD-32E8-6D62D780B9F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908EF92-CE2C-46D4-8DA6-9C674FAA778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F07FA60-447B-8B86-B174-77402DC13CC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7DF71CA-6619-4DEC-4B55-68C6DC3BD6E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2958D68-F6AA-E072-BE40-BD515559A885}"/>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10EE9C01-9A78-FFF1-043D-887805F92F10}"/>
              </a:ext>
            </a:extLst>
          </p:cNvPr>
          <p:cNvPicPr>
            <a:picLocks noChangeAspect="1"/>
          </p:cNvPicPr>
          <p:nvPr/>
        </p:nvPicPr>
        <p:blipFill>
          <a:blip r:embed="rId4"/>
          <a:stretch>
            <a:fillRect/>
          </a:stretch>
        </p:blipFill>
        <p:spPr>
          <a:xfrm>
            <a:off x="422959" y="1201586"/>
            <a:ext cx="11093084" cy="5535611"/>
          </a:xfrm>
          <a:prstGeom prst="rect">
            <a:avLst/>
          </a:prstGeom>
        </p:spPr>
      </p:pic>
    </p:spTree>
    <p:extLst>
      <p:ext uri="{BB962C8B-B14F-4D97-AF65-F5344CB8AC3E}">
        <p14:creationId xmlns:p14="http://schemas.microsoft.com/office/powerpoint/2010/main" val="104864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3262458"/>
            <a:ext cx="11340000" cy="700114"/>
          </a:xfrm>
          <a:prstGeom prst="rect">
            <a:avLst/>
          </a:prstGeom>
        </p:spPr>
        <p:txBody>
          <a:bodyPr anchor="ctr">
            <a:noAutofit/>
          </a:bodyPr>
          <a:lstStyle/>
          <a:p>
            <a:pPr algn="ctr"/>
            <a:r>
              <a:rPr lang="en-US" sz="13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570</TotalTime>
  <Words>347</Words>
  <Application>Microsoft Office PowerPoint</Application>
  <PresentationFormat>Widescreen</PresentationFormat>
  <Paragraphs>46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Healthcare Analytics for Doctor Visits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om koli</cp:lastModifiedBy>
  <cp:revision>78</cp:revision>
  <dcterms:created xsi:type="dcterms:W3CDTF">2021-07-11T13:13:15Z</dcterms:created>
  <dcterms:modified xsi:type="dcterms:W3CDTF">2026-10-04T08:42:38Z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